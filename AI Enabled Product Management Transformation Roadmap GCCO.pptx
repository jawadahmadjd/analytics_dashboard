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is based on the proposal provided by Fariha Fatima Hameed.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3B33"/>
          </a:solidFill>
          <a:ln w="12700">
            <a:solidFill>
              <a:srgbClr val="0B3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BONDS CORPORATION  |  PRODUCT MANAGEMENT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71632" y="6519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3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49d0e96c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5">
              <a:alpha val="78000"/>
            </a:srgbClr>
          </a:solidFill>
          <a:ln w="12700">
            <a:solidFill>
              <a:srgbClr val="071B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71B25">
              <a:alpha val="92000"/>
            </a:srgbClr>
          </a:solidFill>
          <a:ln w="12700">
            <a:solidFill>
              <a:srgbClr val="071B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2"/>
          <p:cNvSpPr/>
          <p:nvPr/>
        </p:nvSpPr>
        <p:spPr>
          <a:xfrm>
            <a:off x="640080" y="50292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713232" y="57150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EXECUTIVE PROPOSAL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61872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AI-Enabled Product Management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Transformation Roadmap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2880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7E1"/>
                </a:solidFill>
              </a:rPr>
              <a:t>From product knowledge to continuous, proactive product intelligence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53218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to: Group Chief Commercial Officer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by: Fariha Fatima Hameed | Product Management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6172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8C1"/>
                </a:solidFill>
              </a:rPr>
              <a:t>31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EXECUTIVE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Three connected initiatives. One intelligent operating model.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Two practical deliverables create immediate value while a focused agentic pilot builds the future capability.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21590" dist="889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822960" y="207568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96112" y="214426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 KNOWLEDGE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1E"/>
                </a:solidFill>
              </a:rPr>
              <a:t>Product Knowledge AI Assistant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300" dirty="0">
                <a:solidFill>
                  <a:srgbClr val="5F6F68"/>
                </a:solidFill>
              </a:rPr>
              <a:t>Controlled answers from approved product content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Fewer repetitive queries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Faster, consistent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3154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21590" dist="889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4343400" y="207568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416552" y="214426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 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1E"/>
                </a:solidFill>
              </a:rPr>
              <a:t>Bi-Weekly Product &amp; Market Intelligence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400" y="3657600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300" dirty="0">
                <a:solidFill>
                  <a:srgbClr val="5F6F68"/>
                </a:solidFill>
              </a:rPr>
              <a:t>Internal + external signals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Management-level interpretation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Earlier risks and opportunities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3154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635240" y="182880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21590" dist="889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7863840" y="207568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7936992" y="214426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 AGENTIC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1E"/>
                </a:solidFill>
              </a:rPr>
              <a:t>Agentic Product Intelligence &amp;Early Warning System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0" y="3657600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300" dirty="0">
                <a:solidFill>
                  <a:srgbClr val="5F6F68"/>
                </a:solidFill>
              </a:rPr>
              <a:t>Continuous monitoring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Multi-step investigation</a:t>
            </a:r>
            <a:endParaRPr lang="en-US" sz="1300" dirty="0"/>
          </a:p>
          <a:p>
            <a:r>
              <a:rPr lang="en-US" sz="1300" dirty="0">
                <a:solidFill>
                  <a:srgbClr val="5F6F68"/>
                </a:solidFill>
              </a:rPr>
              <a:t>Proactive alerts and recommendations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Recommended positioning: Deliver • Deliver • Transform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STRATEGIC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The shift is not just automation. It is a better management system.</a:t>
            </a:r>
            <a:endParaRPr lang="en-US" sz="2700" dirty="0"/>
          </a:p>
        </p:txBody>
      </p:sp>
      <p:pic>
        <p:nvPicPr>
          <p:cNvPr id="4" name="Image 0" descr="/mnt/data/765dbacedf.png"/>
          <p:cNvPicPr>
            <a:picLocks noChangeAspect="1"/>
          </p:cNvPicPr>
          <p:nvPr/>
        </p:nvPicPr>
        <p:blipFill>
          <a:blip r:embed="rId3"/>
          <a:srcRect l="9181" r="9181"/>
          <a:stretch/>
        </p:blipFill>
        <p:spPr>
          <a:xfrm>
            <a:off x="6309360" y="1508760"/>
            <a:ext cx="5285232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600200"/>
            <a:ext cx="5166360" cy="4114800"/>
          </a:xfrm>
          <a:prstGeom prst="roundRect">
            <a:avLst>
              <a:gd name="adj" fmla="val 1556"/>
            </a:avLst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TODAY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22677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Periodic • Manual • Retrospective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297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400" dirty="0">
                <a:solidFill>
                  <a:srgbClr val="D8E7E1"/>
                </a:solidFill>
              </a:rPr>
              <a:t>Product knowledge is fragmented</a:t>
            </a:r>
            <a:endParaRPr lang="en-US" sz="1400" dirty="0"/>
          </a:p>
          <a:p>
            <a:r>
              <a:rPr lang="en-US" sz="1400" dirty="0">
                <a:solidFill>
                  <a:srgbClr val="D8E7E1"/>
                </a:solidFill>
              </a:rPr>
              <a:t>Teams depend on Product Management for routine answers</a:t>
            </a:r>
            <a:endParaRPr lang="en-US" sz="1400" dirty="0"/>
          </a:p>
          <a:p>
            <a:r>
              <a:rPr lang="en-US" sz="1400" dirty="0">
                <a:solidFill>
                  <a:srgbClr val="D8E7E1"/>
                </a:solidFill>
              </a:rPr>
              <a:t>Insights are assembled from disconnected sources</a:t>
            </a:r>
            <a:endParaRPr lang="en-US" sz="1400" dirty="0"/>
          </a:p>
          <a:p>
            <a:r>
              <a:rPr lang="en-US" sz="1400" dirty="0">
                <a:solidFill>
                  <a:srgbClr val="D8E7E1"/>
                </a:solidFill>
              </a:rPr>
              <a:t>Material changes may surface late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TARGET STATE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0474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Accessible • Intelligent • Proactive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1 | QUICK WIN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Product Knowledge AI Assistant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A controlled single source of product truth for internal teams.</a:t>
            </a:r>
            <a:endParaRPr lang="en-US" sz="1300" dirty="0"/>
          </a:p>
        </p:txBody>
      </p:sp>
      <p:pic>
        <p:nvPicPr>
          <p:cNvPr id="5" name="Image 0" descr="/mnt/data/09331ae245.png"/>
          <p:cNvPicPr>
            <a:picLocks noChangeAspect="1"/>
          </p:cNvPicPr>
          <p:nvPr/>
        </p:nvPicPr>
        <p:blipFill>
          <a:blip r:embed="rId3"/>
          <a:srcRect l="12134" r="12134"/>
          <a:stretch/>
        </p:blipFill>
        <p:spPr>
          <a:xfrm>
            <a:off x="6629400" y="1572768"/>
            <a:ext cx="4965192" cy="4370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5544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64008" cy="1234440"/>
          </a:xfrm>
          <a:prstGeom prst="rect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813816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Business outcome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" y="2157984"/>
            <a:ext cx="50292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Reduce dependency on Product Management for routine queries while improving speed, consistency and accessibility.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30175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594360" y="3017520"/>
            <a:ext cx="64008" cy="2423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813816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MVP capabilities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3816" y="3621024"/>
            <a:ext cx="219456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F6F68"/>
                </a:solidFill>
              </a:rPr>
              <a:t>Answer product questions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Search approved documents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Provide source references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Flag conflicts / outdated content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Escalate unanswered queries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29000" y="30175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2"/>
          <p:cNvSpPr/>
          <p:nvPr/>
        </p:nvSpPr>
        <p:spPr>
          <a:xfrm>
            <a:off x="3429000" y="3017520"/>
            <a:ext cx="64008" cy="2423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3648456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Initial users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48456" y="3621024"/>
            <a:ext cx="219456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F6F68"/>
                </a:solidFill>
              </a:rPr>
              <a:t>Sales &amp; Business Development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Customer Service &amp; Relationships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Operations &amp; Digital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Marketing &amp; new employees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Relevant support functions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Design principle: if information is unavailable or unclear, the Assistant does not assume. It escalates.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1 | DELIVERY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Build the knowledge foundation before the assistant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AI quality will only be as good as the approved information it can access.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795528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9A227"/>
                </a:solidFill>
              </a:rPr>
              <a:t>01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95528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1E"/>
                </a:solidFill>
              </a:rPr>
              <a:t>Inventory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37033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8"/>
                </a:solidFill>
              </a:rPr>
              <a:t>Product descriptions, T&amp;Cs, FAQs, brochures, policies, procedures, circulars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584448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9A227"/>
                </a:solidFill>
              </a:rPr>
              <a:t>02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584448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1E"/>
                </a:solidFill>
              </a:rPr>
              <a:t>Approved knowledge 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37033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8"/>
                </a:solidFill>
              </a:rPr>
              <a:t>Ownership, version control, review dates and clear source references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5F3EE"/>
          </a:solidFill>
          <a:ln w="12700">
            <a:solidFill>
              <a:srgbClr val="16A085"/>
            </a:solidFill>
            <a:prstDash val="solid"/>
          </a:ln>
          <a:effectLst>
            <a:outerShdw blurRad="1524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373368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A085"/>
                </a:solidFill>
              </a:rPr>
              <a:t>03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373368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1E"/>
                </a:solidFill>
              </a:rPr>
              <a:t>Assistant MVP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73368" y="37033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8"/>
                </a:solidFill>
              </a:rPr>
              <a:t>Priority journeys, source-grounded answers, conflict flags and escalation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9162288" y="2057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9A227"/>
                </a:solidFill>
              </a:rPr>
              <a:t>04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9162288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1E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62288" y="37033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8"/>
                </a:solidFill>
              </a:rPr>
              <a:t>Approvals, access controls, monitoring, disclaimers and audit trail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Indicative end-to-end timeline: 4–5 months, including controlled pilot and refinement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2 | VERY HIGH PRIORITY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Bi-Weekly Product &amp; Market Intelligence Report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Move management insight from “what happened?” to “what is changing, why, and what needs attention?”</a:t>
            </a:r>
            <a:endParaRPr lang="en-US" sz="1300" dirty="0"/>
          </a:p>
        </p:txBody>
      </p:sp>
      <p:pic>
        <p:nvPicPr>
          <p:cNvPr id="5" name="Image 0" descr="/mnt/data/1458d37ade.png"/>
          <p:cNvPicPr>
            <a:picLocks noChangeAspect="1"/>
          </p:cNvPicPr>
          <p:nvPr/>
        </p:nvPicPr>
        <p:blipFill>
          <a:blip r:embed="rId3"/>
          <a:srcRect l="10805" r="10805"/>
          <a:stretch/>
        </p:blipFill>
        <p:spPr>
          <a:xfrm>
            <a:off x="594360" y="1536192"/>
            <a:ext cx="5074920" cy="4315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554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989320" y="1554480"/>
            <a:ext cx="64008" cy="1920240"/>
          </a:xfrm>
          <a:prstGeom prst="rect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6208776" y="1737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Internal lens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08776" y="2157984"/>
            <a:ext cx="22402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F6F68"/>
                </a:solidFill>
              </a:rPr>
              <a:t>Portfolio performance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Customer indicators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Product and channel trends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Targets, inflows and redemptions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887968" y="1554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8887968" y="1554480"/>
            <a:ext cx="64008" cy="1920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9107424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External lens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07424" y="2157984"/>
            <a:ext cx="22860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F6F68"/>
                </a:solidFill>
              </a:rPr>
              <a:t>UAE macro conditions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Savings and investment environment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Consumer behaviour</a:t>
            </a:r>
            <a:endParaRPr lang="en-US" sz="1150" dirty="0"/>
          </a:p>
          <a:p>
            <a:r>
              <a:rPr lang="en-US" sz="1150" dirty="0">
                <a:solidFill>
                  <a:srgbClr val="5F6F68"/>
                </a:solidFill>
              </a:rPr>
              <a:t>Competitive activity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3794760"/>
            <a:ext cx="5596128" cy="1828800"/>
          </a:xfrm>
          <a:prstGeom prst="roundRect">
            <a:avLst>
              <a:gd name="adj" fmla="val 4000"/>
            </a:avLst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6263640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AI VALUE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4407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Aggregate → Detect → Correlate → Interpret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263640" y="48920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7E1"/>
                </a:solidFill>
              </a:rPr>
              <a:t>Concise 3–5 page management report with opportunities, risks, watch items and management considerations.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2 | OPERATING RHYTHM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A repeatable insight cycle every two weeks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Bi-weekly cadence better reflects the speed of market change and product movement.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085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751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1E"/>
                </a:solidFill>
              </a:rPr>
              <a:t>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349300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Approved internal KPIs + external indicators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32888" y="309067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97180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085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9923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1E"/>
                </a:solidFill>
              </a:rPr>
              <a:t>DETECT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9232" y="349300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Material movements against defined thresholds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64608" y="309067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166360" y="21488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5303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085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3095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1E"/>
                </a:solidFill>
              </a:rPr>
              <a:t>CONNECT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30952" y="349300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Cross-indicator patterns and potential drivers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96328" y="309067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</a:rPr>
              <a:t>›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498080" y="21488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76352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085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66267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1E"/>
                </a:solidFill>
              </a:rPr>
              <a:t>SYNTHESISE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62672" y="349300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Executive summary, opportunities and watch items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28048" y="309067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829800" y="214884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99669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99439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DISCUSS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94392" y="349300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EE8"/>
                </a:solidFill>
              </a:rPr>
              <a:t>Management consideration and owner follow-up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First live report targeted in 8–10 weeks, followed by a minimum of 3 reporting cycles for refinement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3 | STRATEGIC TRANSFORMATION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Agentic Product Intelligence &amp; Early Warning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978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8"/>
                </a:solidFill>
              </a:rPr>
              <a:t>From a dashboard people inspect to a capability that continuously monitors, investigates and alerts.</a:t>
            </a:r>
            <a:endParaRPr lang="en-US" sz="1300" dirty="0"/>
          </a:p>
        </p:txBody>
      </p:sp>
      <p:pic>
        <p:nvPicPr>
          <p:cNvPr id="5" name="Image 0" descr="/mnt/data/209dd3ec46.png"/>
          <p:cNvPicPr>
            <a:picLocks noChangeAspect="1"/>
          </p:cNvPicPr>
          <p:nvPr/>
        </p:nvPicPr>
        <p:blipFill>
          <a:blip r:embed="rId3"/>
          <a:srcRect l="8473" r="8473"/>
          <a:stretch/>
        </p:blipFill>
        <p:spPr>
          <a:xfrm>
            <a:off x="6172200" y="1600200"/>
            <a:ext cx="5422392" cy="4352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914400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OBJECTIVE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304288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Continuously monitor the health of the product portfolio and proactively identify material risks or opportunities.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Focused pilot, not full autonomy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315968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7E1"/>
                </a:solidFill>
              </a:rPr>
              <a:t>Start with 2–3 priority products, selected KPIs, clear performance ranges, warning thresholds and approved data 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3 | AGENTIC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Six steps from signal to accountable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960120" cy="960120"/>
          </a:xfrm>
          <a:prstGeom prst="ellipse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MONITOR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KPIs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74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8648" y="1874520"/>
            <a:ext cx="960120" cy="9601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898648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95728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DETECT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Deviation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95928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37176" y="1874520"/>
            <a:ext cx="960120" cy="960120"/>
          </a:xfrm>
          <a:prstGeom prst="ellipse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837176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34256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INVESTIGATE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4256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Drivers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34456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75704" y="1874520"/>
            <a:ext cx="960120" cy="960120"/>
          </a:xfrm>
          <a:prstGeom prst="ellipse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775704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72784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ANALYSE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Explanation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72984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714232" y="1874520"/>
            <a:ext cx="960120" cy="9601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8714232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11312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RECOMMEND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11312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Options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11512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652760" y="1874520"/>
            <a:ext cx="960120" cy="960120"/>
          </a:xfrm>
          <a:prstGeom prst="ellipse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  <a:effectLst>
            <a:outerShdw blurRad="19050" dist="6350" dir="2700000" algn="bl" rotWithShape="0">
              <a:srgbClr val="1F3A32">
                <a:alpha val="1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10652760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4984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1E"/>
                </a:solidFill>
              </a:rPr>
              <a:t>ESCALATE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984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F68"/>
                </a:solidFill>
              </a:rPr>
              <a:t>Alert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60120" y="4251960"/>
            <a:ext cx="10287000" cy="1097280"/>
          </a:xfrm>
          <a:prstGeom prst="roundRect">
            <a:avLst>
              <a:gd name="adj" fmla="val 5000"/>
            </a:avLst>
          </a:prstGeom>
          <a:solidFill>
            <a:srgbClr val="E8F0EC"/>
          </a:solidFill>
          <a:ln w="12700">
            <a:solidFill>
              <a:srgbClr val="D0DED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1234440" y="4535424"/>
            <a:ext cx="9738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D4A"/>
                </a:solidFill>
              </a:rPr>
              <a:t>Example alert  |  Material deviation in Product X: new subscriptions and net inflows affected. Potential drivers: channel underperformance and external market movement. Recommended next step: product review.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INITIATIVE 3 | SOLUTION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Specialist agents with human-controlled outputs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2148840"/>
          </a:xfrm>
          <a:prstGeom prst="rect">
            <a:avLst/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Product Performance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32304"/>
            <a:ext cx="21031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Monitors internal product KPIs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8288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64008" cy="2148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675888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Market Intelligence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5888" y="2432304"/>
            <a:ext cx="21031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Monitors approved macro and market indicators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6272784" y="1828800"/>
            <a:ext cx="64008" cy="21488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Investigation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432304"/>
            <a:ext cx="21031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Tests relationships and contributing factors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89136" y="18288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  <a:effectLst>
            <a:outerShdw blurRad="19050" dist="762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9089136" y="1828800"/>
            <a:ext cx="64008" cy="214884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9308592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1E"/>
                </a:solidFill>
              </a:rPr>
              <a:t>Alert &amp; Recommendation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08592" y="2432304"/>
            <a:ext cx="21031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68"/>
                </a:solidFill>
              </a:rPr>
              <a:t>Generates alerts and management considerations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71800" y="4572000"/>
            <a:ext cx="6263640" cy="822960"/>
          </a:xfrm>
          <a:prstGeom prst="roundRect">
            <a:avLst>
              <a:gd name="adj" fmla="val 8889"/>
            </a:avLst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3246120" y="480060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Future phase: Product Intelligence Orchestrator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Outputs remain advisory: AI analyses and recommends; accountable leaders approve and decide.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INTEGRATED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Sequence value delivery while building the strategic foundation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3240" y="1645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6F68"/>
                </a:solidFill>
              </a:rPr>
              <a:t>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0" y="1645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6F68"/>
                </a:solidFill>
              </a:rPr>
              <a:t>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0" y="1645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6F68"/>
                </a:solidFill>
              </a:rPr>
              <a:t>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1E"/>
                </a:solidFill>
              </a:rPr>
              <a:t>Knowledge Assistant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8"/>
                </a:solidFill>
              </a:rPr>
              <a:t>4–5 months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2084832"/>
            <a:ext cx="8732520" cy="749808"/>
          </a:xfrm>
          <a:prstGeom prst="roundRect">
            <a:avLst>
              <a:gd name="adj" fmla="val 7317"/>
            </a:avLst>
          </a:prstGeom>
          <a:solidFill>
            <a:srgbClr val="E3EAE6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2788920" y="2084832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999232" y="2313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Inventory → knowledge base → MVP → pilot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1E"/>
                </a:solidFill>
              </a:rPr>
              <a:t>Intelligence Report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8"/>
                </a:solidFill>
              </a:rPr>
              <a:t>First report in 8–10 weeks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3273552"/>
            <a:ext cx="8732520" cy="749808"/>
          </a:xfrm>
          <a:prstGeom prst="roundRect">
            <a:avLst>
              <a:gd name="adj" fmla="val 7317"/>
            </a:avLst>
          </a:prstGeom>
          <a:solidFill>
            <a:srgbClr val="E3EAE6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2788920" y="3273552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2999232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Framework → prototype → 3 bi-weekly cycles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590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1E"/>
                </a:solidFill>
              </a:rPr>
              <a:t>Agentic Early Warning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49743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8"/>
                </a:solidFill>
              </a:rPr>
              <a:t>Design + pilot within the year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4462272"/>
            <a:ext cx="8732520" cy="749808"/>
          </a:xfrm>
          <a:prstGeom prst="roundRect">
            <a:avLst>
              <a:gd name="adj" fmla="val 7317"/>
            </a:avLst>
          </a:prstGeom>
          <a:solidFill>
            <a:srgbClr val="E3EAE6"/>
          </a:solidFill>
          <a:ln w="12700">
            <a:solidFill>
              <a:srgbClr val="E3EA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2788920" y="4462272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2999232" y="46908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→ build → pilot → evaluate &amp;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577840"/>
            <a:ext cx="10927080" cy="502920"/>
          </a:xfrm>
          <a:prstGeom prst="roundRect">
            <a:avLst>
              <a:gd name="adj" fmla="val 9091"/>
            </a:avLst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868680" y="5742432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Common enablers: approved data • governance • security • business ownership • change adoption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AI analyses and recommends. Humans approve and decide.</a:t>
            </a:r>
            <a:endParaRPr lang="en-US" sz="2700" dirty="0"/>
          </a:p>
        </p:txBody>
      </p:sp>
      <p:pic>
        <p:nvPicPr>
          <p:cNvPr id="4" name="Image 0" descr="/mnt/data/6fb276d860.png"/>
          <p:cNvPicPr>
            <a:picLocks noChangeAspect="1"/>
          </p:cNvPicPr>
          <p:nvPr/>
        </p:nvPicPr>
        <p:blipFill>
          <a:blip r:embed="rId3"/>
          <a:srcRect l="11279" r="11279"/>
          <a:stretch/>
        </p:blipFill>
        <p:spPr>
          <a:xfrm>
            <a:off x="594360" y="1463040"/>
            <a:ext cx="52578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44768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5240" dist="6350" dir="2700000" algn="bl" rotWithShape="0">
              <a:srgbClr val="1F3A32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6446520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HUMAN APPROVAL REQUIRED FOR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4652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400" dirty="0">
                <a:solidFill>
                  <a:srgbClr val="15221E"/>
                </a:solidFill>
              </a:rPr>
              <a:t>Product changes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Customer communications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Financial recommendations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External communications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Risk decisions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52560" y="1810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CONTROL FUNCTIONS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540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400" dirty="0">
                <a:solidFill>
                  <a:srgbClr val="15221E"/>
                </a:solidFill>
              </a:rPr>
              <a:t>Technology / Data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Information Security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Risk &amp; Compliance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Legal &amp; Sharia</a:t>
            </a:r>
            <a:endParaRPr lang="en-US" sz="1400" dirty="0"/>
          </a:p>
          <a:p>
            <a:r>
              <a:rPr lang="en-US" sz="1400" dirty="0">
                <a:solidFill>
                  <a:srgbClr val="15221E"/>
                </a:solidFill>
              </a:rPr>
              <a:t>Internal Audit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495604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D4A"/>
                </a:solidFill>
              </a:rPr>
              <a:t>Core controls: approved sources • role-based access • versioning • monitoring • escalation • audit trail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A085"/>
                </a:solidFill>
              </a:rPr>
              <a:t>VALUE REALISATION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1E"/>
                </a:solidFill>
              </a:rPr>
              <a:t>Measure adoption, efficiency, insight quality and decision impact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905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96112" y="21031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0B5D4A"/>
          </a:solidFill>
          <a:ln w="12700">
            <a:solidFill>
              <a:srgbClr val="0B5D4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69264" y="217170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9077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500" dirty="0">
                <a:solidFill>
                  <a:srgbClr val="15221E"/>
                </a:solidFill>
              </a:rPr>
              <a:t>Routine query reduction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Response time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Resolution rate &amp; accuracy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Active users &amp; satisfaction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905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672584" y="21031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745736" y="217170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29077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500" dirty="0">
                <a:solidFill>
                  <a:srgbClr val="15221E"/>
                </a:solidFill>
              </a:rPr>
              <a:t>Preparation time saved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Actionable insights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Early risks / opportunities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Decisions informed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3DE"/>
            </a:solidFill>
            <a:prstDash val="solid"/>
          </a:ln>
          <a:effectLst>
            <a:outerShdw blurRad="19050" dist="6350" dir="2700000" algn="bl" rotWithShape="0">
              <a:srgbClr val="1F3A32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8449056" y="21031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522208" y="217170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AGENTIC PILOT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13064" y="29077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500" dirty="0">
                <a:solidFill>
                  <a:srgbClr val="15221E"/>
                </a:solidFill>
              </a:rPr>
              <a:t>Alert precision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Investigation relevance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Lead time gained</a:t>
            </a:r>
            <a:endParaRPr lang="en-US" sz="1500" dirty="0"/>
          </a:p>
          <a:p>
            <a:r>
              <a:rPr lang="en-US" sz="1500" dirty="0">
                <a:solidFill>
                  <a:srgbClr val="15221E"/>
                </a:solidFill>
              </a:rPr>
              <a:t>Business value &amp; scalability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971032"/>
            <a:ext cx="11018520" cy="347472"/>
          </a:xfrm>
          <a:prstGeom prst="roundRect">
            <a:avLst>
              <a:gd name="adj" fmla="val 1315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86384" y="60624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4A"/>
                </a:solidFill>
              </a:rPr>
              <a:t>Success is not the volume of AI output. It is faster access, earlier insight and better management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49d0e96c1.png"/>
          <p:cNvPicPr>
            <a:picLocks noChangeAspect="1"/>
          </p:cNvPicPr>
          <p:nvPr/>
        </p:nvPicPr>
        <p:blipFill>
          <a:blip r:embed="rId3"/>
          <a:srcRect l="22742" r="22742"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43800" cy="6858000"/>
          </a:xfrm>
          <a:prstGeom prst="rect">
            <a:avLst/>
          </a:prstGeom>
          <a:solidFill>
            <a:srgbClr val="071B25"/>
          </a:solidFill>
          <a:ln w="12700">
            <a:solidFill>
              <a:srgbClr val="071B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658368" y="54864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731520" y="6172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REQUIRED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Recommended GCCO endorsement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2029968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685800" y="211226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34440" y="205740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Sponsor the integrated roadmap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2688336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685800" y="277063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34440" y="27157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Approve the Product Knowledge Assistant pilot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685800" y="34290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34440" y="337413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Approve launch of the bi-weekly intelligence report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5800" y="4005072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85800" y="408736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34440" y="40325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Endorse design and limited pilot of the agentic early warning system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466344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685800" y="4745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34440" y="4690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Nominate cross-functional stakeholders and data owners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57607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E7E1"/>
                </a:solidFill>
              </a:rPr>
              <a:t>Two visible deliverables. One strategic transformation. One connected Product Management AI roadmap.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1254</Words>
  <Application>Microsoft Office PowerPoint</Application>
  <PresentationFormat>Widescreen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Bonds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Product Management Transformation Roadmap</dc:title>
  <dc:subject>AI-Enabled Product Management Transformation Roadmap</dc:subject>
  <dc:creator>Fariha Fatima Hameed</dc:creator>
  <cp:lastModifiedBy>Fariha Fatima Hameed</cp:lastModifiedBy>
  <cp:revision>3</cp:revision>
  <dcterms:created xsi:type="dcterms:W3CDTF">2026-08-31T06:41:15Z</dcterms:created>
  <dcterms:modified xsi:type="dcterms:W3CDTF">2026-08-31T08:03:27Z</dcterms:modified>
</cp:coreProperties>
</file>